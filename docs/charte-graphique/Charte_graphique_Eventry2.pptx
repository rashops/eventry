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00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ventry_club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" y="493776"/>
            <a:ext cx="2971800" cy="829589"/>
          </a:xfrm>
          <a:prstGeom prst="roundRect">
            <a:avLst>
              <a:gd name="adj" fmla="val 8818"/>
            </a:avLst>
          </a:prstGeom>
          <a:solidFill>
            <a:srgbClr val="141020">
              <a:alpha val="92000"/>
            </a:srgbClr>
          </a:solidFill>
          <a:ln w="10160">
            <a:solidFill>
              <a:srgbClr val="5B36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1" descr="/mnt/data/eventry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66928"/>
            <a:ext cx="2788920" cy="683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6656" y="17556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Charte graphique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76656" y="23317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628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Eventry</a:t>
            </a:r>
            <a:endParaRPr lang="en-US" sz="3800" dirty="0"/>
          </a:p>
        </p:txBody>
      </p:sp>
      <p:sp>
        <p:nvSpPr>
          <p:cNvPr id="7" name="Shape 3"/>
          <p:cNvSpPr/>
          <p:nvPr/>
        </p:nvSpPr>
        <p:spPr>
          <a:xfrm>
            <a:off x="676656" y="2971800"/>
            <a:ext cx="822960" cy="36576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676656" y="324612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Créer, découvrir et réserver sa place pour des événements en quelques clics.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76656" y="3840480"/>
            <a:ext cx="1143000" cy="292608"/>
          </a:xfrm>
          <a:prstGeom prst="roundRect">
            <a:avLst>
              <a:gd name="adj" fmla="val 31250"/>
            </a:avLst>
          </a:prstGeom>
          <a:solidFill>
            <a:srgbClr val="171022">
              <a:alpha val="92000"/>
            </a:srgbClr>
          </a:solidFill>
          <a:ln w="12700">
            <a:solidFill>
              <a:srgbClr val="6F34B7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676656" y="390448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Nocturne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1965960" y="3840480"/>
            <a:ext cx="1143000" cy="292608"/>
          </a:xfrm>
          <a:prstGeom prst="roundRect">
            <a:avLst>
              <a:gd name="adj" fmla="val 31250"/>
            </a:avLst>
          </a:prstGeom>
          <a:solidFill>
            <a:srgbClr val="171022">
              <a:alpha val="92000"/>
            </a:srgbClr>
          </a:solidFill>
          <a:ln w="12700">
            <a:solidFill>
              <a:srgbClr val="C628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1965960" y="390448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Immersif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55264" y="3840480"/>
            <a:ext cx="1325880" cy="292608"/>
          </a:xfrm>
          <a:prstGeom prst="roundRect">
            <a:avLst>
              <a:gd name="adj" fmla="val 31250"/>
            </a:avLst>
          </a:prstGeom>
          <a:solidFill>
            <a:srgbClr val="171022">
              <a:alpha val="92000"/>
            </a:srgbClr>
          </a:solidFill>
          <a:ln w="12700">
            <a:solidFill>
              <a:srgbClr val="D7A515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3255264" y="39044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Événementiel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93569" y="4769427"/>
            <a:ext cx="4480560" cy="1415657"/>
          </a:xfrm>
          <a:prstGeom prst="roundRect">
            <a:avLst>
              <a:gd name="adj" fmla="val 6780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676656" y="4855464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de la charte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76656" y="5064321"/>
            <a:ext cx="310896" cy="22860"/>
          </a:xfrm>
          <a:prstGeom prst="rect">
            <a:avLst/>
          </a:prstGeom>
          <a:solidFill>
            <a:srgbClr val="D7A515"/>
          </a:solidFill>
          <a:ln w="12700">
            <a:solidFill>
              <a:srgbClr val="D7A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76656" y="5246786"/>
            <a:ext cx="4069080" cy="58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Définir une identité visuelle complète : logo, couleurs, typographies, iconographie, composants UI, responsive et règles d’utilisation.</a:t>
            </a:r>
            <a:endParaRPr lang="en-US" sz="1280" dirty="0"/>
          </a:p>
        </p:txBody>
      </p:sp>
      <p:sp>
        <p:nvSpPr>
          <p:cNvPr id="19" name="Text 15"/>
          <p:cNvSpPr/>
          <p:nvPr/>
        </p:nvSpPr>
        <p:spPr>
          <a:xfrm>
            <a:off x="10149840" y="65379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 Eventry ·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ventry_abstrac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74352" y="310896"/>
            <a:ext cx="1755648" cy="531632"/>
          </a:xfrm>
          <a:prstGeom prst="roundRect">
            <a:avLst>
              <a:gd name="adj" fmla="val 13760"/>
            </a:avLst>
          </a:prstGeom>
          <a:solidFill>
            <a:srgbClr val="141020">
              <a:alpha val="92000"/>
            </a:srgbClr>
          </a:solidFill>
          <a:ln w="10160">
            <a:solidFill>
              <a:srgbClr val="5B36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1" descr="/mnt/data/eventry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384048"/>
            <a:ext cx="1572768" cy="3853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3504" y="5669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Concept &amp; positionnement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03504" y="1152144"/>
            <a:ext cx="749808" cy="36576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603504" y="13533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Eventry permet aux utilisateurs de créer un événement, découvrir une soirée puis réserver leur place directement dans l’application.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0149840" y="65379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 Eventry · 2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03504" y="23317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68096" y="247802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Organisateurs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68096" y="2770632"/>
            <a:ext cx="310896" cy="22860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822960" y="29443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un événement, publier les informations et suivre les réservations.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98264" y="23317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4562856" y="247802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Participants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62856" y="2770632"/>
            <a:ext cx="310896" cy="22860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617720" y="29443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Trouver un événement selon ses envies, consulter les détails et réserver sa place.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93024" y="23317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8357616" y="247802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Promesse visuelle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357616" y="2770632"/>
            <a:ext cx="310896" cy="22860"/>
          </a:xfrm>
          <a:prstGeom prst="rect">
            <a:avLst/>
          </a:prstGeom>
          <a:solidFill>
            <a:srgbClr val="D7A515"/>
          </a:solidFill>
          <a:ln w="12700">
            <a:solidFill>
              <a:srgbClr val="D7A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8412480" y="29443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Ambiance nocturne, moderne et immersive, cohérente avec les fêtes et soirées.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03504" y="4983480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768096" y="512978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Mots-clés de la marque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68096" y="5422392"/>
            <a:ext cx="310896" cy="22860"/>
          </a:xfrm>
          <a:prstGeom prst="rect">
            <a:avLst/>
          </a:prstGeom>
          <a:solidFill>
            <a:srgbClr val="6F34B7"/>
          </a:solidFill>
          <a:ln w="12700">
            <a:solidFill>
              <a:srgbClr val="6F34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960120" y="537667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Nocturne · Moderne · Convivial · Dynamique · Sécurisant · Simple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ventry_abstrac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74352" y="310896"/>
            <a:ext cx="1755648" cy="531632"/>
          </a:xfrm>
          <a:prstGeom prst="roundRect">
            <a:avLst>
              <a:gd name="adj" fmla="val 13760"/>
            </a:avLst>
          </a:prstGeom>
          <a:solidFill>
            <a:srgbClr val="141020">
              <a:alpha val="92000"/>
            </a:srgbClr>
          </a:solidFill>
          <a:ln w="10160">
            <a:solidFill>
              <a:srgbClr val="5B36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1" descr="/mnt/data/eventry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384048"/>
            <a:ext cx="1572768" cy="3853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3504" y="5669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Logo &amp; règles d’utilisation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03504" y="1152144"/>
            <a:ext cx="749808" cy="36576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603504" y="13533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logo doit rester lisible, équilibré et cohérent avec le thème sombre de l’application.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0149840" y="65379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 Eventry · 3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03504" y="2157984"/>
            <a:ext cx="4937760" cy="2066544"/>
          </a:xfrm>
          <a:prstGeom prst="roundRect">
            <a:avLst>
              <a:gd name="adj" fmla="val 3540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68096" y="2304288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Logo principal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68096" y="2596896"/>
            <a:ext cx="310896" cy="22860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960120" y="2715768"/>
            <a:ext cx="3886200" cy="1053617"/>
          </a:xfrm>
          <a:prstGeom prst="roundRect">
            <a:avLst>
              <a:gd name="adj" fmla="val 6943"/>
            </a:avLst>
          </a:prstGeom>
          <a:solidFill>
            <a:srgbClr val="141020">
              <a:alpha val="92000"/>
            </a:srgbClr>
          </a:solidFill>
          <a:ln w="10160">
            <a:solidFill>
              <a:srgbClr val="5B36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2" descr="/mnt/data/eventry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815" y="2867587"/>
            <a:ext cx="3463290" cy="8485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0976" y="407822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principale à utiliser sur le site, le dossier et la soutenance.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870448" y="2157984"/>
            <a:ext cx="5705856" cy="2066544"/>
          </a:xfrm>
          <a:prstGeom prst="roundRect">
            <a:avLst>
              <a:gd name="adj" fmla="val 3540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6035040" y="2304288"/>
            <a:ext cx="5376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Zone de protection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035040" y="2596896"/>
            <a:ext cx="310896" cy="22860"/>
          </a:xfrm>
          <a:prstGeom prst="rect">
            <a:avLst/>
          </a:prstGeom>
          <a:solidFill>
            <a:srgbClr val="6F34B7"/>
          </a:solidFill>
          <a:ln w="12700">
            <a:solidFill>
              <a:srgbClr val="6F34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6812280" y="2816352"/>
            <a:ext cx="3703320" cy="896112"/>
          </a:xfrm>
          <a:prstGeom prst="roundRect">
            <a:avLst>
              <a:gd name="adj" fmla="val 6122"/>
            </a:avLst>
          </a:prstGeom>
          <a:solidFill>
            <a:srgbClr val="000000">
              <a:alpha val="0"/>
            </a:srgbClr>
          </a:solidFill>
          <a:ln w="12700">
            <a:solidFill>
              <a:srgbClr val="C6284A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3" descr="/mnt/data/eventry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2923378"/>
            <a:ext cx="3108960" cy="7680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45936" y="3922393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Garder un espace vide autour du logo pour éviter les éléments collés.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03504" y="4864608"/>
            <a:ext cx="10972800" cy="836676"/>
          </a:xfrm>
          <a:prstGeom prst="roundRect">
            <a:avLst>
              <a:gd name="adj" fmla="val 9302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768096" y="5010912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À éviter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68096" y="5303520"/>
            <a:ext cx="310896" cy="22860"/>
          </a:xfrm>
          <a:prstGeom prst="rect">
            <a:avLst/>
          </a:prstGeom>
          <a:solidFill>
            <a:srgbClr val="D7A515"/>
          </a:solidFill>
          <a:ln w="12700">
            <a:solidFill>
              <a:srgbClr val="D7A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/>
          <p:nvPr/>
        </p:nvSpPr>
        <p:spPr>
          <a:xfrm>
            <a:off x="960120" y="5321808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étirer · Ne pas écraser · Ne pas changer les couleurs sans cohérence · Ne pas placer sur un fond trop chargé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ventry_abstrac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74352" y="310896"/>
            <a:ext cx="1755648" cy="531632"/>
          </a:xfrm>
          <a:prstGeom prst="roundRect">
            <a:avLst>
              <a:gd name="adj" fmla="val 13760"/>
            </a:avLst>
          </a:prstGeom>
          <a:solidFill>
            <a:srgbClr val="141020">
              <a:alpha val="92000"/>
            </a:srgbClr>
          </a:solidFill>
          <a:ln w="10160">
            <a:solidFill>
              <a:srgbClr val="5B36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1" descr="/mnt/data/eventry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384048"/>
            <a:ext cx="1572768" cy="3853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3504" y="5669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Palette de couleurs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03504" y="1152144"/>
            <a:ext cx="749808" cy="36576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603504" y="13533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palette sombre et contrastée : noir, violet, rouge, avec une touche lumineuse issue du logo.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0149840" y="65379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 Eventry · 4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03504" y="228600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768096" y="246888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0B0B10"/>
          </a:solidFill>
          <a:ln w="1016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1499616" y="24688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Noir profond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99616" y="271576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#0B0B10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499616" y="29626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483864" y="228600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3648456" y="246888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241338"/>
          </a:solidFill>
          <a:ln w="1016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379976" y="24688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Violet nuit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379976" y="271576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#241338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379976" y="29626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364224" y="228600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6528816" y="246888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4A1E4F"/>
          </a:solidFill>
          <a:ln w="1016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7260336" y="24688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Prune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260336" y="271576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#4A1E4F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260336" y="29626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244584" y="228600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9409176" y="246888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7A1E33"/>
          </a:solidFill>
          <a:ln w="1016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10140696" y="24688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Bordeaux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0140696" y="271576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#7A1E33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140696" y="29626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états actifs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03504" y="352044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768096" y="37033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C6284A"/>
          </a:solidFill>
          <a:ln w="1016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/>
          <p:nvPr/>
        </p:nvSpPr>
        <p:spPr>
          <a:xfrm>
            <a:off x="1499616" y="37033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Rouge accent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1499616" y="39502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#C6284A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499616" y="41970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3483864" y="352044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1"/>
          <p:cNvSpPr/>
          <p:nvPr/>
        </p:nvSpPr>
        <p:spPr>
          <a:xfrm>
            <a:off x="3648456" y="37033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E9E6EF"/>
          </a:solidFill>
          <a:ln w="1016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4379976" y="37033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Gris clair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4379976" y="39502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#E9E6EF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379976" y="41970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364224" y="352044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6"/>
          <p:cNvSpPr/>
          <p:nvPr/>
        </p:nvSpPr>
        <p:spPr>
          <a:xfrm>
            <a:off x="6528816" y="37033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D7A515"/>
          </a:solidFill>
          <a:ln w="1016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7"/>
          <p:cNvSpPr/>
          <p:nvPr/>
        </p:nvSpPr>
        <p:spPr>
          <a:xfrm>
            <a:off x="7260336" y="37033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logo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7260336" y="39502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#D7A515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7260336" y="41970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détails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9244584" y="3520440"/>
            <a:ext cx="2542032" cy="960120"/>
          </a:xfrm>
          <a:prstGeom prst="roundRect">
            <a:avLst>
              <a:gd name="adj" fmla="val 7619"/>
            </a:avLst>
          </a:prstGeom>
          <a:solidFill>
            <a:srgbClr val="000000">
              <a:alpha val="0"/>
            </a:srgbClr>
          </a:solidFill>
          <a:ln w="1270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1"/>
          <p:cNvSpPr/>
          <p:nvPr/>
        </p:nvSpPr>
        <p:spPr>
          <a:xfrm>
            <a:off x="9409176" y="37033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F7F5FB"/>
          </a:solidFill>
          <a:ln w="1016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2"/>
          <p:cNvSpPr/>
          <p:nvPr/>
        </p:nvSpPr>
        <p:spPr>
          <a:xfrm>
            <a:off x="10140696" y="37033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Blanc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10140696" y="39502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#F7F5FB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10140696" y="41970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titres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603504" y="5230368"/>
            <a:ext cx="10972800" cy="594360"/>
          </a:xfrm>
          <a:prstGeom prst="roundRect">
            <a:avLst>
              <a:gd name="adj" fmla="val 12308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6"/>
          <p:cNvSpPr/>
          <p:nvPr/>
        </p:nvSpPr>
        <p:spPr>
          <a:xfrm>
            <a:off x="768096" y="5376672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Répartition conseillée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768096" y="5669280"/>
            <a:ext cx="310896" cy="22860"/>
          </a:xfrm>
          <a:prstGeom prst="rect">
            <a:avLst/>
          </a:prstGeom>
          <a:solidFill>
            <a:srgbClr val="D7A515"/>
          </a:solidFill>
          <a:ln w="12700">
            <a:solidFill>
              <a:srgbClr val="D7A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8"/>
          <p:cNvSpPr/>
          <p:nvPr/>
        </p:nvSpPr>
        <p:spPr>
          <a:xfrm>
            <a:off x="960120" y="5559552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40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70 % fonds sombres · 20 % violet/prune · 8 % rouge accent · 2 % or lumineux</a:t>
            </a:r>
            <a:endParaRPr lang="en-US" sz="13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ventry_abstrac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74352" y="310896"/>
            <a:ext cx="1755648" cy="531632"/>
          </a:xfrm>
          <a:prstGeom prst="roundRect">
            <a:avLst>
              <a:gd name="adj" fmla="val 13760"/>
            </a:avLst>
          </a:prstGeom>
          <a:solidFill>
            <a:srgbClr val="141020">
              <a:alpha val="92000"/>
            </a:srgbClr>
          </a:solidFill>
          <a:ln w="10160">
            <a:solidFill>
              <a:srgbClr val="5B36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1" descr="/mnt/data/eventry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384048"/>
            <a:ext cx="1572768" cy="3853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3504" y="5669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Typographies &amp; iconographie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03504" y="1152144"/>
            <a:ext cx="749808" cy="36576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603504" y="13533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hiérarchie simple pour garder l’interface claire sur ordinateur comme sur mobile.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0149840" y="65379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 Eventry · 5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03504" y="2267712"/>
            <a:ext cx="5074920" cy="2834640"/>
          </a:xfrm>
          <a:prstGeom prst="roundRect">
            <a:avLst>
              <a:gd name="adj" fmla="val 2581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68096" y="2414016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Typographies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68096" y="2706624"/>
            <a:ext cx="310896" cy="22860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960120" y="29260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Montserrat Bold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960120" y="34930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Titres, boutons importants, navigation.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60120" y="3886200"/>
            <a:ext cx="4114800" cy="9144"/>
          </a:xfrm>
          <a:prstGeom prst="rect">
            <a:avLst/>
          </a:prstGeom>
          <a:solidFill>
            <a:srgbClr val="6D617D"/>
          </a:solidFill>
          <a:ln w="12700">
            <a:solidFill>
              <a:srgbClr val="6D617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960120" y="4160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960120" y="46177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Textes, formulaires, informations et messages d’aide.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35040" y="2267712"/>
            <a:ext cx="5541264" cy="2834640"/>
          </a:xfrm>
          <a:prstGeom prst="roundRect">
            <a:avLst>
              <a:gd name="adj" fmla="val 2581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199632" y="241401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Iconographie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199632" y="2706624"/>
            <a:ext cx="310896" cy="22860"/>
          </a:xfrm>
          <a:prstGeom prst="rect">
            <a:avLst/>
          </a:prstGeom>
          <a:solidFill>
            <a:srgbClr val="6F34B7"/>
          </a:solidFill>
          <a:ln w="12700">
            <a:solidFill>
              <a:srgbClr val="6F34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6400800" y="2926080"/>
            <a:ext cx="475488" cy="475488"/>
          </a:xfrm>
          <a:prstGeom prst="ellipse">
            <a:avLst/>
          </a:prstGeom>
          <a:solidFill>
            <a:srgbClr val="211331"/>
          </a:solidFill>
          <a:ln w="1270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6437376" y="29992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📅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236208" y="354787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Événement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635240" y="2926080"/>
            <a:ext cx="475488" cy="475488"/>
          </a:xfrm>
          <a:prstGeom prst="ellipse">
            <a:avLst/>
          </a:prstGeom>
          <a:solidFill>
            <a:srgbClr val="211331"/>
          </a:solidFill>
          <a:ln w="1270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7671816" y="29992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🔍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7470648" y="354787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869680" y="2926080"/>
            <a:ext cx="475488" cy="475488"/>
          </a:xfrm>
          <a:prstGeom prst="ellipse">
            <a:avLst/>
          </a:prstGeom>
          <a:solidFill>
            <a:srgbClr val="211331"/>
          </a:solidFill>
          <a:ln w="1270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8906256" y="29992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🎟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8705088" y="354787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Réservation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10104120" y="2926080"/>
            <a:ext cx="475488" cy="475488"/>
          </a:xfrm>
          <a:prstGeom prst="ellipse">
            <a:avLst/>
          </a:prstGeom>
          <a:solidFill>
            <a:srgbClr val="211331"/>
          </a:solidFill>
          <a:ln w="1270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10140696" y="29992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9939528" y="354787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Lieu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400800" y="3931920"/>
            <a:ext cx="475488" cy="475488"/>
          </a:xfrm>
          <a:prstGeom prst="ellipse">
            <a:avLst/>
          </a:prstGeom>
          <a:solidFill>
            <a:srgbClr val="211331"/>
          </a:solidFill>
          <a:ln w="1270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6437376" y="40050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6236208" y="455371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7635240" y="3931920"/>
            <a:ext cx="475488" cy="475488"/>
          </a:xfrm>
          <a:prstGeom prst="ellipse">
            <a:avLst/>
          </a:prstGeom>
          <a:solidFill>
            <a:srgbClr val="211331"/>
          </a:solidFill>
          <a:ln w="1270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7671816" y="40050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⭐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7470648" y="455371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8869680" y="3931920"/>
            <a:ext cx="475488" cy="475488"/>
          </a:xfrm>
          <a:prstGeom prst="ellipse">
            <a:avLst/>
          </a:prstGeom>
          <a:solidFill>
            <a:srgbClr val="211331"/>
          </a:solidFill>
          <a:ln w="1270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5"/>
          <p:cNvSpPr/>
          <p:nvPr/>
        </p:nvSpPr>
        <p:spPr>
          <a:xfrm>
            <a:off x="8906256" y="40050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💬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8705088" y="455371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10104120" y="3931920"/>
            <a:ext cx="475488" cy="475488"/>
          </a:xfrm>
          <a:prstGeom prst="ellipse">
            <a:avLst/>
          </a:prstGeom>
          <a:solidFill>
            <a:srgbClr val="211331"/>
          </a:solidFill>
          <a:ln w="1270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8"/>
          <p:cNvSpPr/>
          <p:nvPr/>
        </p:nvSpPr>
        <p:spPr>
          <a:xfrm>
            <a:off x="10140696" y="40050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🔔</a:t>
            </a:r>
            <a:endParaRPr lang="en-US" sz="1500" dirty="0"/>
          </a:p>
        </p:txBody>
      </p:sp>
      <p:sp>
        <p:nvSpPr>
          <p:cNvPr id="43" name="Text 39"/>
          <p:cNvSpPr/>
          <p:nvPr/>
        </p:nvSpPr>
        <p:spPr>
          <a:xfrm>
            <a:off x="9939528" y="455371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603504" y="5504688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000000">
              <a:alpha val="0"/>
            </a:srgbClr>
          </a:solidFill>
          <a:ln w="1270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1"/>
          <p:cNvSpPr/>
          <p:nvPr/>
        </p:nvSpPr>
        <p:spPr>
          <a:xfrm>
            <a:off x="960120" y="5705856"/>
            <a:ext cx="10241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: icônes simples, cohérentes, avec une épaisseur visuelle proche. Éviter les styles mélangés.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ventry_abstrac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74352" y="310896"/>
            <a:ext cx="1755648" cy="531632"/>
          </a:xfrm>
          <a:prstGeom prst="roundRect">
            <a:avLst>
              <a:gd name="adj" fmla="val 13760"/>
            </a:avLst>
          </a:prstGeom>
          <a:solidFill>
            <a:srgbClr val="141020">
              <a:alpha val="92000"/>
            </a:srgbClr>
          </a:solidFill>
          <a:ln w="10160">
            <a:solidFill>
              <a:srgbClr val="5B36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1" descr="/mnt/data/eventry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384048"/>
            <a:ext cx="1572768" cy="3853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3504" y="5669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Composants d’interface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03504" y="1152144"/>
            <a:ext cx="749808" cy="36576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603504" y="13533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composants sont réutilisables dans React : boutons, cartes d’événements, badges et formulaires.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0149840" y="65379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 Eventry · 6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03504" y="2267712"/>
            <a:ext cx="3063240" cy="3291840"/>
          </a:xfrm>
          <a:prstGeom prst="roundRect">
            <a:avLst>
              <a:gd name="adj" fmla="val 2388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68096" y="241401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Boutons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68096" y="2706624"/>
            <a:ext cx="310896" cy="22860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950976" y="2999232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B76A1B"/>
          </a:solidFill>
          <a:ln w="12700">
            <a:solidFill>
              <a:srgbClr val="D7A51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950976" y="3145536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 Créer un événement</a:t>
            </a:r>
            <a:endParaRPr lang="en-US" sz="1370" dirty="0"/>
          </a:p>
        </p:txBody>
      </p:sp>
      <p:sp>
        <p:nvSpPr>
          <p:cNvPr id="14" name="Shape 10"/>
          <p:cNvSpPr/>
          <p:nvPr/>
        </p:nvSpPr>
        <p:spPr>
          <a:xfrm>
            <a:off x="950976" y="3803904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130B20"/>
          </a:solidFill>
          <a:ln w="12700">
            <a:solidFill>
              <a:srgbClr val="C628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950976" y="3950208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🎟  Réserver ma place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950976" y="46908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principale / action secondaire / état hover / état désactivé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950208" y="2267712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4114800" y="2414016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Carte événement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114800" y="2706624"/>
            <a:ext cx="310896" cy="22860"/>
          </a:xfrm>
          <a:prstGeom prst="rect">
            <a:avLst/>
          </a:prstGeom>
          <a:solidFill>
            <a:srgbClr val="6F34B7"/>
          </a:solidFill>
          <a:ln w="12700">
            <a:solidFill>
              <a:srgbClr val="6F34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4352544" y="2816352"/>
            <a:ext cx="2423160" cy="2103120"/>
          </a:xfrm>
          <a:prstGeom prst="roundRect">
            <a:avLst>
              <a:gd name="adj" fmla="val 3913"/>
            </a:avLst>
          </a:prstGeom>
          <a:solidFill>
            <a:srgbClr val="140D22"/>
          </a:solidFill>
          <a:ln w="12700">
            <a:solidFill>
              <a:srgbClr val="6130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2" descr="/mnt/data/eventry_club_dark.png"/>
          <p:cNvPicPr>
            <a:picLocks noChangeAspect="1"/>
          </p:cNvPicPr>
          <p:nvPr/>
        </p:nvPicPr>
        <p:blipFill>
          <a:blip r:embed="rId5"/>
          <a:srcRect l="60000" t="8000" r="-16816" b="60000"/>
          <a:stretch/>
        </p:blipFill>
        <p:spPr>
          <a:xfrm>
            <a:off x="4352544" y="2816352"/>
            <a:ext cx="2423160" cy="7680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26280" y="37307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Soirée Midnight Pulse</a:t>
            </a:r>
            <a:endParaRPr lang="en-US" sz="1340" dirty="0"/>
          </a:p>
        </p:txBody>
      </p:sp>
      <p:sp>
        <p:nvSpPr>
          <p:cNvPr id="23" name="Text 18"/>
          <p:cNvSpPr/>
          <p:nvPr/>
        </p:nvSpPr>
        <p:spPr>
          <a:xfrm>
            <a:off x="4526280" y="39867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Paris · 18 juin 2026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4526280" y="4233672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5A237E"/>
          </a:solidFill>
          <a:ln w="12700">
            <a:solidFill>
              <a:srgbClr val="5A23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0"/>
          <p:cNvSpPr/>
          <p:nvPr/>
        </p:nvSpPr>
        <p:spPr>
          <a:xfrm>
            <a:off x="4526280" y="4279392"/>
            <a:ext cx="6400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Musique</a:t>
            </a:r>
            <a:endParaRPr lang="en-US" sz="920" dirty="0"/>
          </a:p>
        </p:txBody>
      </p:sp>
      <p:sp>
        <p:nvSpPr>
          <p:cNvPr id="26" name="Text 21"/>
          <p:cNvSpPr/>
          <p:nvPr/>
        </p:nvSpPr>
        <p:spPr>
          <a:xfrm>
            <a:off x="4526280" y="455371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C62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 places restantes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479792" y="2267712"/>
            <a:ext cx="4096512" cy="3291840"/>
          </a:xfrm>
          <a:prstGeom prst="roundRect">
            <a:avLst>
              <a:gd name="adj" fmla="val 2222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3"/>
          <p:cNvSpPr/>
          <p:nvPr/>
        </p:nvSpPr>
        <p:spPr>
          <a:xfrm>
            <a:off x="7644384" y="2414016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Formulaire de recherche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7644384" y="2706624"/>
            <a:ext cx="310896" cy="22860"/>
          </a:xfrm>
          <a:prstGeom prst="rect">
            <a:avLst/>
          </a:prstGeom>
          <a:solidFill>
            <a:srgbClr val="D7A515"/>
          </a:solidFill>
          <a:ln w="12700">
            <a:solidFill>
              <a:srgbClr val="D7A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7808976" y="2697480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Ville</a:t>
            </a:r>
            <a:endParaRPr lang="en-US" sz="1020" dirty="0"/>
          </a:p>
        </p:txBody>
      </p:sp>
      <p:sp>
        <p:nvSpPr>
          <p:cNvPr id="31" name="Shape 26"/>
          <p:cNvSpPr/>
          <p:nvPr/>
        </p:nvSpPr>
        <p:spPr>
          <a:xfrm>
            <a:off x="7808976" y="2880360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0E0A15"/>
          </a:solidFill>
          <a:ln w="12700">
            <a:solidFill>
              <a:srgbClr val="5540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7"/>
          <p:cNvSpPr/>
          <p:nvPr/>
        </p:nvSpPr>
        <p:spPr>
          <a:xfrm>
            <a:off x="7955280" y="2971800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Paris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7808976" y="3246120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020" dirty="0"/>
          </a:p>
        </p:txBody>
      </p:sp>
      <p:sp>
        <p:nvSpPr>
          <p:cNvPr id="34" name="Shape 29"/>
          <p:cNvSpPr/>
          <p:nvPr/>
        </p:nvSpPr>
        <p:spPr>
          <a:xfrm>
            <a:off x="7808976" y="3429000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0E0A15"/>
          </a:solidFill>
          <a:ln w="12700">
            <a:solidFill>
              <a:srgbClr val="5540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0"/>
          <p:cNvSpPr/>
          <p:nvPr/>
        </p:nvSpPr>
        <p:spPr>
          <a:xfrm>
            <a:off x="7955280" y="3520440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Soirée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7808976" y="3794760"/>
            <a:ext cx="9144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1020" dirty="0"/>
          </a:p>
        </p:txBody>
      </p:sp>
      <p:sp>
        <p:nvSpPr>
          <p:cNvPr id="37" name="Shape 32"/>
          <p:cNvSpPr/>
          <p:nvPr/>
        </p:nvSpPr>
        <p:spPr>
          <a:xfrm>
            <a:off x="7808976" y="3977640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0E0A15"/>
          </a:solidFill>
          <a:ln w="12700">
            <a:solidFill>
              <a:srgbClr val="5540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3"/>
          <p:cNvSpPr/>
          <p:nvPr/>
        </p:nvSpPr>
        <p:spPr>
          <a:xfrm>
            <a:off x="7955280" y="4069080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18/06/2026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7808976" y="4663440"/>
            <a:ext cx="3154680" cy="438912"/>
          </a:xfrm>
          <a:prstGeom prst="roundRect">
            <a:avLst>
              <a:gd name="adj" fmla="val 16667"/>
            </a:avLst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5"/>
          <p:cNvSpPr/>
          <p:nvPr/>
        </p:nvSpPr>
        <p:spPr>
          <a:xfrm>
            <a:off x="7808976" y="4800600"/>
            <a:ext cx="3154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ventry_abstrac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74352" y="310896"/>
            <a:ext cx="1755648" cy="531632"/>
          </a:xfrm>
          <a:prstGeom prst="roundRect">
            <a:avLst>
              <a:gd name="adj" fmla="val 13760"/>
            </a:avLst>
          </a:prstGeom>
          <a:solidFill>
            <a:srgbClr val="141020">
              <a:alpha val="92000"/>
            </a:srgbClr>
          </a:solidFill>
          <a:ln w="10160">
            <a:solidFill>
              <a:srgbClr val="5B36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1" descr="/mnt/data/eventry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384048"/>
            <a:ext cx="1572768" cy="3853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3504" y="5669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Exemples d’application &amp; responsive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03504" y="1152144"/>
            <a:ext cx="749808" cy="36576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603504" y="13533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charte doit permettre une interface lisible en desktop et en mobile.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0149840" y="65379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 Eventry · 7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03504" y="2286000"/>
            <a:ext cx="5577840" cy="3520440"/>
          </a:xfrm>
          <a:prstGeom prst="roundRect">
            <a:avLst>
              <a:gd name="adj" fmla="val 2078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68096" y="2432304"/>
            <a:ext cx="5248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68096" y="2724912"/>
            <a:ext cx="310896" cy="22860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1005840" y="2926080"/>
            <a:ext cx="4709160" cy="2103120"/>
          </a:xfrm>
          <a:prstGeom prst="roundRect">
            <a:avLst>
              <a:gd name="adj" fmla="val 3913"/>
            </a:avLst>
          </a:prstGeom>
          <a:solidFill>
            <a:srgbClr val="0D0914"/>
          </a:solidFill>
          <a:ln w="1270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1005840" y="2926080"/>
            <a:ext cx="676656" cy="2103120"/>
          </a:xfrm>
          <a:prstGeom prst="rect">
            <a:avLst/>
          </a:prstGeom>
          <a:solidFill>
            <a:srgbClr val="151021"/>
          </a:solidFill>
          <a:ln w="12700">
            <a:solidFill>
              <a:srgbClr val="1510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1133856" y="309067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D7A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Eventry</a:t>
            </a:r>
            <a:endParaRPr lang="en-US" sz="860" dirty="0"/>
          </a:p>
        </p:txBody>
      </p:sp>
      <p:sp>
        <p:nvSpPr>
          <p:cNvPr id="15" name="Shape 11"/>
          <p:cNvSpPr/>
          <p:nvPr/>
        </p:nvSpPr>
        <p:spPr>
          <a:xfrm>
            <a:off x="1901952" y="3154680"/>
            <a:ext cx="3474720" cy="493776"/>
          </a:xfrm>
          <a:prstGeom prst="roundRect">
            <a:avLst>
              <a:gd name="adj" fmla="val 12963"/>
            </a:avLst>
          </a:prstGeom>
          <a:solidFill>
            <a:srgbClr val="241338"/>
          </a:solidFill>
          <a:ln w="12700">
            <a:solidFill>
              <a:srgbClr val="2413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2057400" y="329184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la une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1901952" y="3913632"/>
            <a:ext cx="941832" cy="603504"/>
          </a:xfrm>
          <a:prstGeom prst="roundRect">
            <a:avLst>
              <a:gd name="adj" fmla="val 9091"/>
            </a:avLst>
          </a:prstGeom>
          <a:solidFill>
            <a:srgbClr val="3B1549"/>
          </a:solidFill>
          <a:ln w="1016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3044952" y="3913632"/>
            <a:ext cx="941832" cy="603504"/>
          </a:xfrm>
          <a:prstGeom prst="roundRect">
            <a:avLst>
              <a:gd name="adj" fmla="val 9091"/>
            </a:avLst>
          </a:prstGeom>
          <a:solidFill>
            <a:srgbClr val="4A1E4F"/>
          </a:solidFill>
          <a:ln w="1016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4187952" y="3913632"/>
            <a:ext cx="941832" cy="603504"/>
          </a:xfrm>
          <a:prstGeom prst="roundRect">
            <a:avLst>
              <a:gd name="adj" fmla="val 9091"/>
            </a:avLst>
          </a:prstGeom>
          <a:solidFill>
            <a:srgbClr val="7A1E33"/>
          </a:solidFill>
          <a:ln w="1016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1005840" y="5349240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Grille d’événements, navigation latérale et espace large.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629400" y="2286000"/>
            <a:ext cx="4946904" cy="3520440"/>
          </a:xfrm>
          <a:prstGeom prst="roundRect">
            <a:avLst>
              <a:gd name="adj" fmla="val 2078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6793992" y="2432304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793992" y="2724912"/>
            <a:ext cx="310896" cy="22860"/>
          </a:xfrm>
          <a:prstGeom prst="rect">
            <a:avLst/>
          </a:prstGeom>
          <a:solidFill>
            <a:srgbClr val="6F34B7"/>
          </a:solidFill>
          <a:ln w="12700">
            <a:solidFill>
              <a:srgbClr val="6F34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9418320" y="2743200"/>
            <a:ext cx="1325880" cy="2615184"/>
          </a:xfrm>
          <a:prstGeom prst="roundRect">
            <a:avLst>
              <a:gd name="adj" fmla="val 11724"/>
            </a:avLst>
          </a:prstGeom>
          <a:solidFill>
            <a:srgbClr val="0D0914"/>
          </a:solidFill>
          <a:ln w="1270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9646920" y="301752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7A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Eventry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582912" y="3383280"/>
            <a:ext cx="987552" cy="594360"/>
          </a:xfrm>
          <a:prstGeom prst="roundRect">
            <a:avLst>
              <a:gd name="adj" fmla="val 9231"/>
            </a:avLst>
          </a:prstGeom>
          <a:solidFill>
            <a:srgbClr val="4A1E4F"/>
          </a:solidFill>
          <a:ln w="8890">
            <a:solidFill>
              <a:srgbClr val="C628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9582912" y="4160520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241338"/>
          </a:solidFill>
          <a:ln w="508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4"/>
          <p:cNvSpPr/>
          <p:nvPr/>
        </p:nvSpPr>
        <p:spPr>
          <a:xfrm>
            <a:off x="9582912" y="4480560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4A1E4F"/>
          </a:solidFill>
          <a:ln w="508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9582912" y="4800600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7A1E33"/>
          </a:solidFill>
          <a:ln w="5080">
            <a:solidFill>
              <a:srgbClr val="5B36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6949440" y="301752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62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168896" y="3017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Cartes en une colonne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949440" y="352044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62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168896" y="35204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Boutons larges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6949440" y="402336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62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7168896" y="4023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simplifié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6949440" y="452628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62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7168896" y="45262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Contraste élevé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ventry_abstract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74352" y="310896"/>
            <a:ext cx="1755648" cy="531632"/>
          </a:xfrm>
          <a:prstGeom prst="roundRect">
            <a:avLst>
              <a:gd name="adj" fmla="val 13760"/>
            </a:avLst>
          </a:prstGeom>
          <a:solidFill>
            <a:srgbClr val="141020">
              <a:alpha val="92000"/>
            </a:srgbClr>
          </a:solidFill>
          <a:ln w="10160">
            <a:solidFill>
              <a:srgbClr val="5B367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1" descr="/mnt/data/eventry_logo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384048"/>
            <a:ext cx="1572768" cy="3853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3504" y="56692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Règles de cohérence &amp; accessibilité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03504" y="1152144"/>
            <a:ext cx="749808" cy="36576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/>
          <p:nvPr/>
        </p:nvSpPr>
        <p:spPr>
          <a:xfrm>
            <a:off x="603504" y="13533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 règles guident le développement du front-end et la préparation des captures pour le dossier.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0149840" y="653796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9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Charte Eventry · 8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03504" y="233172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68096" y="247802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Contraste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68096" y="2770632"/>
            <a:ext cx="310896" cy="22860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786384" y="293522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 clair sur fond sombre pour rester lisible.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70832" y="233172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4535424" y="247802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Espacement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35424" y="2770632"/>
            <a:ext cx="310896" cy="22860"/>
          </a:xfrm>
          <a:prstGeom prst="rect">
            <a:avLst/>
          </a:prstGeom>
          <a:solidFill>
            <a:srgbClr val="6F34B7"/>
          </a:solidFill>
          <a:ln w="12700">
            <a:solidFill>
              <a:srgbClr val="6F34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553712" y="293522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Marges régulières, cartes aérées, blocs bien alignés.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33172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8302752" y="247802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Hiérarchie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302752" y="2770632"/>
            <a:ext cx="310896" cy="22860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8321040" y="293522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Titre fort, infos secondaires discrètes, CTA visible.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03504" y="3685032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768096" y="3831336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68096" y="4123944"/>
            <a:ext cx="310896" cy="22860"/>
          </a:xfrm>
          <a:prstGeom prst="rect">
            <a:avLst/>
          </a:prstGeom>
          <a:solidFill>
            <a:srgbClr val="6F34B7"/>
          </a:solidFill>
          <a:ln w="12700">
            <a:solidFill>
              <a:srgbClr val="6F34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786384" y="428853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+ mobile prévus dès la conception.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370832" y="3685032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4535424" y="3831336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États UI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4535424" y="4123944"/>
            <a:ext cx="310896" cy="22860"/>
          </a:xfrm>
          <a:prstGeom prst="rect">
            <a:avLst/>
          </a:prstGeom>
          <a:solidFill>
            <a:srgbClr val="C6284A"/>
          </a:solidFill>
          <a:ln w="12700">
            <a:solidFill>
              <a:srgbClr val="C628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4553712" y="428853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Hover, focus, succès et erreur visuellement distincts.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8138160" y="3685032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8302752" y="3831336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Cohérence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8302752" y="4123944"/>
            <a:ext cx="310896" cy="22860"/>
          </a:xfrm>
          <a:prstGeom prst="rect">
            <a:avLst/>
          </a:prstGeom>
          <a:solidFill>
            <a:srgbClr val="6F34B7"/>
          </a:solidFill>
          <a:ln w="12700">
            <a:solidFill>
              <a:srgbClr val="6F34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8321040" y="428853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DAD4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Toujours réutiliser les mêmes composants.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03504" y="5541264"/>
            <a:ext cx="10972800" cy="651718"/>
          </a:xfrm>
          <a:prstGeom prst="roundRect">
            <a:avLst>
              <a:gd name="adj" fmla="val 14286"/>
            </a:avLst>
          </a:prstGeom>
          <a:solidFill>
            <a:srgbClr val="000000">
              <a:alpha val="0"/>
            </a:srgbClr>
          </a:solidFill>
          <a:ln w="13970">
            <a:solidFill>
              <a:srgbClr val="5B367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0"/>
          <p:cNvSpPr/>
          <p:nvPr/>
        </p:nvSpPr>
        <p:spPr>
          <a:xfrm>
            <a:off x="768096" y="5687568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5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768096" y="5980176"/>
            <a:ext cx="310896" cy="22860"/>
          </a:xfrm>
          <a:prstGeom prst="rect">
            <a:avLst/>
          </a:prstGeom>
          <a:solidFill>
            <a:srgbClr val="D7A515"/>
          </a:solidFill>
          <a:ln w="12700">
            <a:solidFill>
              <a:srgbClr val="D7A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960120" y="5843016"/>
            <a:ext cx="10287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F7F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Eventry adopte une identité nocturne, moderne et immersive, adaptée aux événements, soirées et réservations en ligne.</a:t>
            </a:r>
            <a:endParaRPr lang="en-US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17557</TotalTime>
  <Words>626</Words>
  <Application>Microsoft Office PowerPoint</Application>
  <PresentationFormat>Grand écran</PresentationFormat>
  <Paragraphs>146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Eventry</dc:creator>
  <cp:lastModifiedBy>Zakaria Bellazaar</cp:lastModifiedBy>
  <cp:revision>2</cp:revision>
  <dcterms:created xsi:type="dcterms:W3CDTF">2026-05-18T10:16:46Z</dcterms:created>
  <dcterms:modified xsi:type="dcterms:W3CDTF">2026-05-30T14:56:35Z</dcterms:modified>
</cp:coreProperties>
</file>